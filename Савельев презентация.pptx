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ru-RU" smtClean="0"/>
              <a:t>Образец заголовка</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86587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3968569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1641014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4DFEAC0B-8D22-4A29-A71A-D3A32522E282}" type="datetimeFigureOut">
              <a:rPr lang="ru-RU" smtClean="0"/>
              <a:t>13.05.2024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488270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4DFEAC0B-8D22-4A29-A71A-D3A32522E282}" type="datetimeFigureOut">
              <a:rPr lang="ru-RU" smtClean="0"/>
              <a:t>13.05.2024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465050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7" name="Date Placeholder 2"/>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3"/>
          <p:cNvSpPr>
            <a:spLocks noGrp="1"/>
          </p:cNvSpPr>
          <p:nvPr>
            <p:ph type="ftr" sz="quarter" idx="11"/>
          </p:nvPr>
        </p:nvSpPr>
        <p:spPr/>
        <p:txBody>
          <a:bodyPr/>
          <a:lstStyle/>
          <a:p>
            <a:endParaRPr lang="ru-RU"/>
          </a:p>
        </p:txBody>
      </p:sp>
      <p:sp>
        <p:nvSpPr>
          <p:cNvPr id="6" name="Slide Number Placeholder 4"/>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2756953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2"/>
          <p:cNvSpPr>
            <a:spLocks noGrp="1"/>
          </p:cNvSpPr>
          <p:nvPr>
            <p:ph type="ftr" sz="quarter" idx="11"/>
          </p:nvPr>
        </p:nvSpPr>
        <p:spPr/>
        <p:txBody>
          <a:bodyPr/>
          <a:lstStyle/>
          <a:p>
            <a:endParaRPr lang="ru-RU"/>
          </a:p>
        </p:txBody>
      </p:sp>
      <p:sp>
        <p:nvSpPr>
          <p:cNvPr id="6" name="Slide Number Placeholder 3"/>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606953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7" name="Date Placeholder 4"/>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5"/>
          <p:cNvSpPr>
            <a:spLocks noGrp="1"/>
          </p:cNvSpPr>
          <p:nvPr>
            <p:ph type="ftr" sz="quarter" idx="11"/>
          </p:nvPr>
        </p:nvSpPr>
        <p:spPr/>
        <p:txBody>
          <a:bodyPr/>
          <a:lstStyle/>
          <a:p>
            <a:endParaRPr lang="ru-RU"/>
          </a:p>
        </p:txBody>
      </p:sp>
      <p:sp>
        <p:nvSpPr>
          <p:cNvPr id="6" name="Slide Number Placeholder 6"/>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3287851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4DFEAC0B-8D22-4A29-A71A-D3A32522E282}" type="datetimeFigureOut">
              <a:rPr lang="ru-RU" smtClean="0"/>
              <a:t>13.05.2024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297127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4DFEAC0B-8D22-4A29-A71A-D3A32522E282}" type="datetimeFigureOut">
              <a:rPr lang="ru-RU" smtClean="0"/>
              <a:t>13.05.2024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3754051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ru-RU" smtClean="0"/>
              <a:t>Образец заголовка</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2210470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ru-RU" smtClean="0"/>
              <a:t>Образец заголовка</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ru-RU" smtClean="0"/>
              <a:t>Образец текста</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66180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1413096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3754118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1640465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229575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4DFEAC0B-8D22-4A29-A71A-D3A32522E282}" type="datetimeFigureOut">
              <a:rPr lang="ru-RU" smtClean="0"/>
              <a:t>13.05.2024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FB642C9-D6A4-46AE-87CE-D9708630C37B}" type="slidenum">
              <a:rPr lang="ru-RU" smtClean="0"/>
              <a:t>‹#›</a:t>
            </a:fld>
            <a:endParaRPr lang="ru-RU"/>
          </a:p>
        </p:txBody>
      </p:sp>
    </p:spTree>
    <p:extLst>
      <p:ext uri="{BB962C8B-B14F-4D97-AF65-F5344CB8AC3E}">
        <p14:creationId xmlns:p14="http://schemas.microsoft.com/office/powerpoint/2010/main" val="211040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DFEAC0B-8D22-4A29-A71A-D3A32522E282}" type="datetimeFigureOut">
              <a:rPr lang="ru-RU" smtClean="0"/>
              <a:t>13.05.2024</a:t>
            </a:fld>
            <a:endParaRPr lang="ru-R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ru-R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FB642C9-D6A4-46AE-87CE-D9708630C37B}" type="slidenum">
              <a:rPr lang="ru-RU" smtClean="0"/>
              <a:t>‹#›</a:t>
            </a:fld>
            <a:endParaRPr lang="ru-RU"/>
          </a:p>
        </p:txBody>
      </p:sp>
    </p:spTree>
    <p:extLst>
      <p:ext uri="{BB962C8B-B14F-4D97-AF65-F5344CB8AC3E}">
        <p14:creationId xmlns:p14="http://schemas.microsoft.com/office/powerpoint/2010/main" val="17298379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603131" y="852854"/>
            <a:ext cx="9144000" cy="4652963"/>
          </a:xfrm>
        </p:spPr>
        <p:txBody>
          <a:bodyPr>
            <a:noAutofit/>
          </a:bodyPr>
          <a:lstStyle/>
          <a:p>
            <a:pPr algn="ctr"/>
            <a:r>
              <a:rPr lang="ru-RU" sz="4400" dirty="0">
                <a:latin typeface="Times New Roman" panose="02020603050405020304" pitchFamily="18" charset="0"/>
                <a:cs typeface="Times New Roman" panose="02020603050405020304" pitchFamily="18" charset="0"/>
              </a:rPr>
              <a:t>Разработка приложения визуализации параболы, являющейся сглаживающей асимптотой заданного количества частных сумм натурального ряда чисел, с определением точки пересечения оси ординат</a:t>
            </a:r>
          </a:p>
        </p:txBody>
      </p:sp>
      <p:sp>
        <p:nvSpPr>
          <p:cNvPr id="3" name="Подзаголовок 2"/>
          <p:cNvSpPr>
            <a:spLocks noGrp="1"/>
          </p:cNvSpPr>
          <p:nvPr>
            <p:ph type="subTitle" idx="1"/>
          </p:nvPr>
        </p:nvSpPr>
        <p:spPr>
          <a:xfrm>
            <a:off x="1216270" y="5864469"/>
            <a:ext cx="7751884" cy="729762"/>
          </a:xfrm>
        </p:spPr>
        <p:txBody>
          <a:bodyPr>
            <a:normAutofit fontScale="92500" lnSpcReduction="20000"/>
          </a:bodyPr>
          <a:lstStyle/>
          <a:p>
            <a:r>
              <a:rPr lang="ru-RU" dirty="0" smtClean="0">
                <a:latin typeface="Times New Roman" panose="02020603050405020304" pitchFamily="18" charset="0"/>
                <a:cs typeface="Times New Roman" panose="02020603050405020304" pitchFamily="18" charset="0"/>
              </a:rPr>
              <a:t>Автор работы: Савельев М.Ю.</a:t>
            </a:r>
          </a:p>
          <a:p>
            <a:r>
              <a:rPr lang="ru-RU" dirty="0" smtClean="0">
                <a:latin typeface="Times New Roman" panose="02020603050405020304" pitchFamily="18" charset="0"/>
                <a:cs typeface="Times New Roman" panose="02020603050405020304" pitchFamily="18" charset="0"/>
              </a:rPr>
              <a:t>Руководитель: Соколов М.С.</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3165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830959"/>
          </a:xfrm>
        </p:spPr>
        <p:txBody>
          <a:bodyPr/>
          <a:lstStyle/>
          <a:p>
            <a:r>
              <a:rPr lang="ru-RU" dirty="0" smtClean="0">
                <a:latin typeface="Times New Roman" panose="02020603050405020304" pitchFamily="18" charset="0"/>
                <a:cs typeface="Times New Roman" panose="02020603050405020304" pitchFamily="18" charset="0"/>
              </a:rPr>
              <a:t>Введение</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04293" y="1283677"/>
            <a:ext cx="8946541" cy="5064369"/>
          </a:xfrm>
        </p:spPr>
        <p:txBody>
          <a:bodyPr>
            <a:normAutofit lnSpcReduction="10000"/>
          </a:bodyPr>
          <a:lstStyle/>
          <a:p>
            <a:pPr marL="0" indent="0">
              <a:buNone/>
            </a:pPr>
            <a:r>
              <a:rPr lang="ru-RU" dirty="0" smtClean="0"/>
              <a:t>	</a:t>
            </a:r>
            <a:r>
              <a:rPr lang="ru-RU" dirty="0" smtClean="0">
                <a:latin typeface="Times New Roman" panose="02020603050405020304" pitchFamily="18" charset="0"/>
                <a:cs typeface="Times New Roman" panose="02020603050405020304" pitchFamily="18" charset="0"/>
              </a:rPr>
              <a:t>Математика </a:t>
            </a:r>
            <a:r>
              <a:rPr lang="ru-RU" dirty="0">
                <a:latin typeface="Times New Roman" panose="02020603050405020304" pitchFamily="18" charset="0"/>
                <a:cs typeface="Times New Roman" panose="02020603050405020304" pitchFamily="18" charset="0"/>
              </a:rPr>
              <a:t>является одной из важнейших наук, которая активно используется во многих сферах. </a:t>
            </a:r>
            <a:r>
              <a:rPr lang="ru-RU" dirty="0" smtClean="0">
                <a:latin typeface="Times New Roman" panose="02020603050405020304" pitchFamily="18" charset="0"/>
                <a:cs typeface="Times New Roman" panose="02020603050405020304" pitchFamily="18" charset="0"/>
              </a:rPr>
              <a:t>Но </a:t>
            </a:r>
            <a:r>
              <a:rPr lang="ru-RU" dirty="0">
                <a:latin typeface="Times New Roman" panose="02020603050405020304" pitchFamily="18" charset="0"/>
                <a:cs typeface="Times New Roman" panose="02020603050405020304" pitchFamily="18" charset="0"/>
              </a:rPr>
              <a:t>не маловажную роль в математике играет процесс исследования математических структур и элементов. </a:t>
            </a:r>
            <a:r>
              <a:rPr lang="ru-RU" dirty="0" smtClean="0">
                <a:latin typeface="Times New Roman" panose="02020603050405020304" pitchFamily="18" charset="0"/>
                <a:cs typeface="Times New Roman" panose="02020603050405020304" pitchFamily="18" charset="0"/>
              </a:rPr>
              <a:t>Особой частью математического исследования является знания и умения в использование тех или иных методов анализа и расчетов исследуемой области. </a:t>
            </a:r>
          </a:p>
          <a:p>
            <a:pPr marL="0" indent="0">
              <a:buNone/>
            </a:pPr>
            <a:r>
              <a:rPr lang="ru-RU" dirty="0" smtClean="0">
                <a:latin typeface="Times New Roman" panose="02020603050405020304" pitchFamily="18" charset="0"/>
                <a:cs typeface="Times New Roman" panose="02020603050405020304" pitchFamily="18" charset="0"/>
              </a:rPr>
              <a:t>	Задача </a:t>
            </a:r>
            <a:r>
              <a:rPr lang="ru-RU" dirty="0">
                <a:latin typeface="Times New Roman" panose="02020603050405020304" pitchFamily="18" charset="0"/>
                <a:cs typeface="Times New Roman" panose="02020603050405020304" pitchFamily="18" charset="0"/>
              </a:rPr>
              <a:t>данного курсового проекта – разработать приложения для визуализации параболы, которая будет является сглаживающей асимптотой известного количества частичных сумм натурального ряда чисел и определение точки пересечения оси ординат</a:t>
            </a:r>
            <a:r>
              <a:rPr lang="ru-RU" dirty="0" smtClean="0">
                <a:latin typeface="Times New Roman" panose="02020603050405020304" pitchFamily="18" charset="0"/>
                <a:cs typeface="Times New Roman" panose="02020603050405020304" pitchFamily="18" charset="0"/>
              </a:rPr>
              <a:t>.</a:t>
            </a:r>
          </a:p>
          <a:p>
            <a:pPr marL="0" indent="0">
              <a:buNone/>
            </a:pP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Основные задачи при написании курсовой работе:</a:t>
            </a:r>
          </a:p>
          <a:p>
            <a:pPr marL="0" indent="0">
              <a:buNone/>
            </a:pPr>
            <a:r>
              <a:rPr lang="ru-RU" dirty="0" smtClean="0">
                <a:latin typeface="Times New Roman" panose="02020603050405020304" pitchFamily="18" charset="0"/>
                <a:cs typeface="Times New Roman" panose="02020603050405020304" pitchFamily="18" charset="0"/>
              </a:rPr>
              <a:t>1) Изучить понятия частных сумм натурального ряда </a:t>
            </a:r>
          </a:p>
          <a:p>
            <a:pPr marL="0" indent="0">
              <a:buNone/>
            </a:pPr>
            <a:r>
              <a:rPr lang="ru-RU" dirty="0">
                <a:latin typeface="Times New Roman" panose="02020603050405020304" pitchFamily="18" charset="0"/>
                <a:cs typeface="Times New Roman" panose="02020603050405020304" pitchFamily="18" charset="0"/>
              </a:rPr>
              <a:t>2</a:t>
            </a:r>
            <a:r>
              <a:rPr lang="ru-RU" dirty="0" smtClean="0">
                <a:latin typeface="Times New Roman" panose="02020603050405020304" pitchFamily="18" charset="0"/>
                <a:cs typeface="Times New Roman" panose="02020603050405020304" pitchFamily="18" charset="0"/>
              </a:rPr>
              <a:t>)</a:t>
            </a:r>
            <a:r>
              <a:rPr lang="ru-RU" dirty="0" smtClean="0"/>
              <a:t> </a:t>
            </a:r>
            <a:r>
              <a:rPr lang="ru-RU" dirty="0">
                <a:latin typeface="Times New Roman" panose="02020603050405020304" pitchFamily="18" charset="0"/>
                <a:cs typeface="Times New Roman" panose="02020603050405020304" pitchFamily="18" charset="0"/>
              </a:rPr>
              <a:t>С</a:t>
            </a:r>
            <a:r>
              <a:rPr lang="ru-RU" dirty="0" smtClean="0">
                <a:latin typeface="Times New Roman" panose="02020603050405020304" pitchFamily="18" charset="0"/>
                <a:cs typeface="Times New Roman" panose="02020603050405020304" pitchFamily="18" charset="0"/>
              </a:rPr>
              <a:t>оздание </a:t>
            </a:r>
            <a:r>
              <a:rPr lang="ru-RU" dirty="0">
                <a:latin typeface="Times New Roman" panose="02020603050405020304" pitchFamily="18" charset="0"/>
                <a:cs typeface="Times New Roman" panose="02020603050405020304" pitchFamily="18" charset="0"/>
              </a:rPr>
              <a:t>удобного, понятного и оптимизированного приложения, которое поможет визуализировать </a:t>
            </a:r>
            <a:r>
              <a:rPr lang="ru-RU" dirty="0" smtClean="0">
                <a:latin typeface="Times New Roman" panose="02020603050405020304" pitchFamily="18" charset="0"/>
                <a:cs typeface="Times New Roman" panose="02020603050405020304" pitchFamily="18" charset="0"/>
              </a:rPr>
              <a:t>параболу.</a:t>
            </a:r>
          </a:p>
          <a:p>
            <a:pPr marL="0" indent="0">
              <a:buNone/>
            </a:pPr>
            <a:r>
              <a:rPr lang="ru-RU" dirty="0">
                <a:latin typeface="Times New Roman" panose="02020603050405020304" pitchFamily="18" charset="0"/>
                <a:cs typeface="Times New Roman" panose="02020603050405020304" pitchFamily="18" charset="0"/>
              </a:rPr>
              <a:t>3</a:t>
            </a:r>
            <a:r>
              <a:rPr lang="ru-RU" dirty="0" smtClean="0">
                <a:latin typeface="Times New Roman" panose="02020603050405020304" pitchFamily="18" charset="0"/>
                <a:cs typeface="Times New Roman" panose="02020603050405020304" pitchFamily="18" charset="0"/>
              </a:rPr>
              <a:t>) Составить алгоритм для будущей программы</a:t>
            </a:r>
          </a:p>
          <a:p>
            <a:pPr marL="0" indent="0">
              <a:buNone/>
            </a:pPr>
            <a:r>
              <a:rPr lang="ru-RU" dirty="0" smtClean="0">
                <a:latin typeface="Times New Roman" panose="02020603050405020304" pitchFamily="18" charset="0"/>
                <a:cs typeface="Times New Roman" panose="02020603050405020304" pitchFamily="18" charset="0"/>
              </a:rPr>
              <a:t>4) Реализовать расчет точки пересечения оси ординат и её визуализацию</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357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795790"/>
          </a:xfrm>
        </p:spPr>
        <p:txBody>
          <a:bodyPr/>
          <a:lstStyle/>
          <a:p>
            <a:r>
              <a:rPr lang="ru-RU" dirty="0" smtClean="0">
                <a:latin typeface="Times New Roman" panose="02020603050405020304" pitchFamily="18" charset="0"/>
                <a:cs typeface="Times New Roman" panose="02020603050405020304" pitchFamily="18" charset="0"/>
              </a:rPr>
              <a:t>Частная сумма натурального ряда</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03312" y="1443232"/>
            <a:ext cx="8946541" cy="743036"/>
          </a:xfrm>
        </p:spPr>
        <p:txBody>
          <a:bodyPr/>
          <a:lstStyle/>
          <a:p>
            <a:pPr marL="0" indent="0">
              <a:buNone/>
            </a:pPr>
            <a:r>
              <a:rPr lang="ru-RU" dirty="0" smtClean="0"/>
              <a:t>	</a:t>
            </a:r>
            <a:r>
              <a:rPr lang="ru-RU" dirty="0" smtClean="0">
                <a:latin typeface="Times New Roman" panose="02020603050405020304" pitchFamily="18" charset="0"/>
                <a:cs typeface="Times New Roman" panose="02020603050405020304" pitchFamily="18" charset="0"/>
              </a:rPr>
              <a:t>Натуральный ряд представляет собой последовательность чисел начиная с единицы и до бесконечности.</a:t>
            </a:r>
            <a:endParaRPr lang="ru-RU" dirty="0">
              <a:latin typeface="Times New Roman" panose="02020603050405020304" pitchFamily="18" charset="0"/>
              <a:cs typeface="Times New Roman" panose="02020603050405020304" pitchFamily="18" charset="0"/>
            </a:endParaRPr>
          </a:p>
        </p:txBody>
      </p:sp>
      <p:sp>
        <p:nvSpPr>
          <p:cNvPr id="5" name="Объект 2"/>
          <p:cNvSpPr txBox="1">
            <a:spLocks/>
          </p:cNvSpPr>
          <p:nvPr/>
        </p:nvSpPr>
        <p:spPr>
          <a:xfrm>
            <a:off x="1103311" y="3093341"/>
            <a:ext cx="8946541" cy="1461074"/>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ru-RU" dirty="0"/>
              <a:t>	</a:t>
            </a:r>
            <a:r>
              <a:rPr lang="ru-RU" sz="3600" dirty="0" smtClean="0">
                <a:latin typeface="Times New Roman" panose="02020603050405020304" pitchFamily="18" charset="0"/>
                <a:cs typeface="Times New Roman" panose="02020603050405020304" pitchFamily="18" charset="0"/>
              </a:rPr>
              <a:t>где </a:t>
            </a:r>
            <a:r>
              <a:rPr lang="ru-RU" sz="3600" dirty="0">
                <a:latin typeface="Times New Roman" panose="02020603050405020304" pitchFamily="18" charset="0"/>
                <a:cs typeface="Times New Roman" panose="02020603050405020304" pitchFamily="18" charset="0"/>
              </a:rPr>
              <a:t>члены ряда </a:t>
            </a:r>
            <a:r>
              <a:rPr lang="en-US" sz="3600" dirty="0">
                <a:latin typeface="Times New Roman" panose="02020603050405020304" pitchFamily="18" charset="0"/>
                <a:cs typeface="Times New Roman" panose="02020603050405020304" pitchFamily="18" charset="0"/>
              </a:rPr>
              <a:t>u</a:t>
            </a:r>
            <a:r>
              <a:rPr lang="ru-RU" sz="3600" baseline="-25000" dirty="0">
                <a:latin typeface="Times New Roman" panose="02020603050405020304" pitchFamily="18" charset="0"/>
                <a:cs typeface="Times New Roman" panose="02020603050405020304" pitchFamily="18" charset="0"/>
              </a:rPr>
              <a:t>1</a:t>
            </a:r>
            <a:r>
              <a:rPr lang="ru-RU" sz="3600"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u</a:t>
            </a:r>
            <a:r>
              <a:rPr lang="ru-RU" sz="3600" baseline="-25000" dirty="0">
                <a:latin typeface="Times New Roman" panose="02020603050405020304" pitchFamily="18" charset="0"/>
                <a:cs typeface="Times New Roman" panose="02020603050405020304" pitchFamily="18" charset="0"/>
              </a:rPr>
              <a:t>2</a:t>
            </a:r>
            <a:r>
              <a:rPr lang="ru-RU" sz="3600"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u</a:t>
            </a:r>
            <a:r>
              <a:rPr lang="en-US" sz="3600" baseline="-25000" dirty="0">
                <a:latin typeface="Times New Roman" panose="02020603050405020304" pitchFamily="18" charset="0"/>
                <a:cs typeface="Times New Roman" panose="02020603050405020304" pitchFamily="18" charset="0"/>
              </a:rPr>
              <a:t>n</a:t>
            </a:r>
            <a:r>
              <a:rPr lang="ru-RU" sz="3600" dirty="0">
                <a:latin typeface="Times New Roman" panose="02020603050405020304" pitchFamily="18" charset="0"/>
                <a:cs typeface="Times New Roman" panose="02020603050405020304" pitchFamily="18" charset="0"/>
              </a:rPr>
              <a:t>,… — действительные или комплексные числа, u</a:t>
            </a:r>
            <a:r>
              <a:rPr lang="en-US" sz="3600" baseline="-25000" dirty="0">
                <a:latin typeface="Times New Roman" panose="02020603050405020304" pitchFamily="18" charset="0"/>
                <a:cs typeface="Times New Roman" panose="02020603050405020304" pitchFamily="18" charset="0"/>
              </a:rPr>
              <a:t>n</a:t>
            </a:r>
            <a:r>
              <a:rPr lang="ru-RU" sz="3600" dirty="0">
                <a:latin typeface="Times New Roman" panose="02020603050405020304" pitchFamily="18" charset="0"/>
                <a:cs typeface="Times New Roman" panose="02020603050405020304" pitchFamily="18" charset="0"/>
              </a:rPr>
              <a:t> общий член ряда. Ряд задан, если известен общий член ряда u</a:t>
            </a:r>
            <a:r>
              <a:rPr lang="en-US" sz="3600" baseline="-25000" dirty="0">
                <a:latin typeface="Times New Roman" panose="02020603050405020304" pitchFamily="18" charset="0"/>
                <a:cs typeface="Times New Roman" panose="02020603050405020304" pitchFamily="18" charset="0"/>
              </a:rPr>
              <a:t>n</a:t>
            </a:r>
            <a:r>
              <a:rPr lang="ru-RU" sz="3600" dirty="0">
                <a:latin typeface="Times New Roman" panose="02020603050405020304" pitchFamily="18" charset="0"/>
                <a:cs typeface="Times New Roman" panose="02020603050405020304" pitchFamily="18" charset="0"/>
              </a:rPr>
              <a:t>, выраженный как функция его номера n</a:t>
            </a:r>
            <a:r>
              <a:rPr lang="ru-RU" sz="3600" dirty="0" smtClean="0">
                <a:latin typeface="Times New Roman" panose="02020603050405020304" pitchFamily="18" charset="0"/>
                <a:cs typeface="Times New Roman" panose="02020603050405020304" pitchFamily="18" charset="0"/>
              </a:rPr>
              <a:t>.</a:t>
            </a:r>
          </a:p>
          <a:p>
            <a:pPr marL="0" indent="0">
              <a:buNone/>
            </a:pPr>
            <a:r>
              <a:rPr lang="ru-RU" sz="3600" dirty="0" smtClean="0">
                <a:latin typeface="Times New Roman" panose="02020603050405020304" pitchFamily="18" charset="0"/>
                <a:ea typeface="Times New Roman" panose="02020603050405020304" pitchFamily="18" charset="0"/>
              </a:rPr>
              <a:t>	Частной </a:t>
            </a:r>
            <a:r>
              <a:rPr lang="ru-RU" sz="3600" dirty="0">
                <a:latin typeface="Times New Roman" panose="02020603050405020304" pitchFamily="18" charset="0"/>
                <a:ea typeface="Times New Roman" panose="02020603050405020304" pitchFamily="18" charset="0"/>
              </a:rPr>
              <a:t>суммой натурального ряда называют сумму начальных </a:t>
            </a:r>
            <a:r>
              <a:rPr lang="en-US" sz="3600" dirty="0">
                <a:latin typeface="Times New Roman" panose="02020603050405020304" pitchFamily="18" charset="0"/>
                <a:ea typeface="Times New Roman" panose="02020603050405020304" pitchFamily="18" charset="0"/>
              </a:rPr>
              <a:t>n</a:t>
            </a:r>
            <a:r>
              <a:rPr lang="ru-RU" sz="3600" dirty="0">
                <a:latin typeface="Times New Roman" panose="02020603050405020304" pitchFamily="18" charset="0"/>
                <a:ea typeface="Times New Roman" panose="02020603050405020304" pitchFamily="18" charset="0"/>
              </a:rPr>
              <a:t> – элементов натурального ряда.</a:t>
            </a:r>
          </a:p>
          <a:p>
            <a:pPr marL="0" indent="0">
              <a:buNone/>
            </a:pPr>
            <a:endParaRPr lang="ru-RU" sz="3600" dirty="0">
              <a:latin typeface="Times New Roman" panose="02020603050405020304" pitchFamily="18" charset="0"/>
              <a:cs typeface="Times New Roman" panose="02020603050405020304" pitchFamily="18" charset="0"/>
            </a:endParaRPr>
          </a:p>
        </p:txBody>
      </p:sp>
      <p:pic>
        <p:nvPicPr>
          <p:cNvPr id="1027" name="Рисунок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716" y="2255187"/>
            <a:ext cx="2721213" cy="6843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Рисунок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8464" y="5461488"/>
            <a:ext cx="3458320" cy="6916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9" name="Рисунок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8464" y="4708192"/>
            <a:ext cx="5158336" cy="666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0" name="Рисунок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7716" y="4708192"/>
            <a:ext cx="2452694" cy="1039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36595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848544"/>
          </a:xfrm>
        </p:spPr>
        <p:txBody>
          <a:bodyPr/>
          <a:lstStyle/>
          <a:p>
            <a:r>
              <a:rPr lang="ru-RU" dirty="0">
                <a:latin typeface="Times New Roman" panose="02020603050405020304" pitchFamily="18" charset="0"/>
                <a:cs typeface="Times New Roman" panose="02020603050405020304" pitchFamily="18" charset="0"/>
              </a:rPr>
              <a:t>Р</a:t>
            </a:r>
            <a:r>
              <a:rPr lang="ru-RU" dirty="0" smtClean="0">
                <a:latin typeface="Times New Roman" panose="02020603050405020304" pitchFamily="18" charset="0"/>
                <a:cs typeface="Times New Roman" panose="02020603050405020304" pitchFamily="18" charset="0"/>
              </a:rPr>
              <a:t>еализации </a:t>
            </a:r>
            <a:r>
              <a:rPr lang="ru-RU" dirty="0">
                <a:latin typeface="Times New Roman" panose="02020603050405020304" pitchFamily="18" charset="0"/>
                <a:cs typeface="Times New Roman" panose="02020603050405020304" pitchFamily="18" charset="0"/>
              </a:rPr>
              <a:t>метода Гаусса</a:t>
            </a:r>
          </a:p>
        </p:txBody>
      </p:sp>
      <p:sp>
        <p:nvSpPr>
          <p:cNvPr id="3" name="Объект 2"/>
          <p:cNvSpPr>
            <a:spLocks noGrp="1"/>
          </p:cNvSpPr>
          <p:nvPr>
            <p:ph idx="1"/>
          </p:nvPr>
        </p:nvSpPr>
        <p:spPr>
          <a:xfrm>
            <a:off x="1104293" y="1301262"/>
            <a:ext cx="8946541" cy="2998175"/>
          </a:xfrm>
        </p:spPr>
        <p:txBody>
          <a:bodyPr>
            <a:normAutofit lnSpcReduction="10000"/>
          </a:bodyPr>
          <a:lstStyle/>
          <a:p>
            <a:pPr marL="0" indent="0">
              <a:buNone/>
            </a:pPr>
            <a:r>
              <a:rPr lang="ru-RU" dirty="0"/>
              <a:t>	</a:t>
            </a:r>
            <a:r>
              <a:rPr lang="ru-RU" dirty="0" smtClean="0">
                <a:latin typeface="Times New Roman" panose="02020603050405020304" pitchFamily="18" charset="0"/>
                <a:cs typeface="Times New Roman" panose="02020603050405020304" pitchFamily="18" charset="0"/>
              </a:rPr>
              <a:t>Для нахождения точки пересечения оси ординат используется метод решения системы уравнения Гаусса. Это нужно для нахождения коэффициента «</a:t>
            </a:r>
            <a:r>
              <a:rPr lang="en-US" dirty="0" smtClean="0">
                <a:latin typeface="Times New Roman" panose="02020603050405020304" pitchFamily="18" charset="0"/>
                <a:cs typeface="Times New Roman" panose="02020603050405020304" pitchFamily="18" charset="0"/>
              </a:rPr>
              <a:t>c</a:t>
            </a:r>
            <a:r>
              <a:rPr lang="ru-RU" dirty="0" smtClean="0">
                <a:latin typeface="Times New Roman" panose="02020603050405020304" pitchFamily="18" charset="0"/>
                <a:cs typeface="Times New Roman" panose="02020603050405020304" pitchFamily="18" charset="0"/>
              </a:rPr>
              <a:t>» квадратной функции </a:t>
            </a:r>
            <a:r>
              <a:rPr lang="en-US" dirty="0">
                <a:latin typeface="Times New Roman" panose="02020603050405020304" pitchFamily="18" charset="0"/>
                <a:cs typeface="Times New Roman" panose="02020603050405020304" pitchFamily="18" charset="0"/>
              </a:rPr>
              <a:t>y = ax^2 + </a:t>
            </a:r>
            <a:r>
              <a:rPr lang="en-US" dirty="0" err="1">
                <a:latin typeface="Times New Roman" panose="02020603050405020304" pitchFamily="18" charset="0"/>
                <a:cs typeface="Times New Roman" panose="02020603050405020304" pitchFamily="18" charset="0"/>
              </a:rPr>
              <a:t>bx</a:t>
            </a:r>
            <a:r>
              <a:rPr lang="en-US" dirty="0">
                <a:latin typeface="Times New Roman" panose="02020603050405020304" pitchFamily="18" charset="0"/>
                <a:cs typeface="Times New Roman" panose="02020603050405020304" pitchFamily="18" charset="0"/>
              </a:rPr>
              <a:t> + </a:t>
            </a:r>
            <a:r>
              <a:rPr lang="en-US" dirty="0" smtClean="0">
                <a:latin typeface="Times New Roman" panose="02020603050405020304" pitchFamily="18" charset="0"/>
                <a:cs typeface="Times New Roman" panose="02020603050405020304" pitchFamily="18" charset="0"/>
              </a:rPr>
              <a:t>c</a:t>
            </a:r>
            <a:r>
              <a:rPr lang="ru-RU" dirty="0" smtClean="0">
                <a:latin typeface="Times New Roman" panose="02020603050405020304" pitchFamily="18" charset="0"/>
                <a:cs typeface="Times New Roman" panose="02020603050405020304" pitchFamily="18" charset="0"/>
              </a:rPr>
              <a:t> из-за которого график сглаживающей асимптоты будет похож на график частных сумм и при этом не будет его пересекать.</a:t>
            </a:r>
          </a:p>
          <a:p>
            <a:pPr marL="0" indent="0">
              <a:buNone/>
            </a:pPr>
            <a:r>
              <a:rPr lang="ru-RU" dirty="0" smtClean="0">
                <a:latin typeface="Times New Roman" panose="02020603050405020304" pitchFamily="18" charset="0"/>
                <a:cs typeface="Times New Roman" panose="02020603050405020304" pitchFamily="18" charset="0"/>
              </a:rPr>
              <a:t>	Задача этого метода привести систему в </a:t>
            </a:r>
            <a:r>
              <a:rPr lang="ru-RU" dirty="0" err="1" smtClean="0">
                <a:latin typeface="Times New Roman" panose="02020603050405020304" pitchFamily="18" charset="0"/>
                <a:cs typeface="Times New Roman" panose="02020603050405020304" pitchFamily="18" charset="0"/>
              </a:rPr>
              <a:t>верхотреугольный</a:t>
            </a:r>
            <a:r>
              <a:rPr lang="ru-RU" dirty="0" smtClean="0">
                <a:latin typeface="Times New Roman" panose="02020603050405020304" pitchFamily="18" charset="0"/>
                <a:cs typeface="Times New Roman" panose="02020603050405020304" pitchFamily="18" charset="0"/>
              </a:rPr>
              <a:t> вид, то есть к системе </a:t>
            </a:r>
            <a:r>
              <a:rPr lang="ru-RU" dirty="0">
                <a:latin typeface="Times New Roman" panose="02020603050405020304" pitchFamily="18" charset="0"/>
                <a:cs typeface="Times New Roman" panose="02020603050405020304" pitchFamily="18" charset="0"/>
              </a:rPr>
              <a:t>у которой равны нулю все элементы, расположенные ниже главной диагонали</a:t>
            </a:r>
            <a:r>
              <a:rPr lang="ru-RU" dirty="0" smtClean="0">
                <a:latin typeface="Times New Roman" panose="02020603050405020304" pitchFamily="18" charset="0"/>
                <a:cs typeface="Times New Roman" panose="02020603050405020304" pitchFamily="18" charset="0"/>
              </a:rPr>
              <a:t>. Это намного упростит решения системы уравнений. Затем проходит обратный ход, в котором </a:t>
            </a:r>
            <a:r>
              <a:rPr lang="ru-RU" dirty="0">
                <a:latin typeface="Times New Roman" panose="02020603050405020304" pitchFamily="18" charset="0"/>
                <a:cs typeface="Times New Roman" panose="02020603050405020304" pitchFamily="18" charset="0"/>
              </a:rPr>
              <a:t>значения и будущие коэффициенты будут вычисляется в обратном порядке </a:t>
            </a:r>
            <a:r>
              <a:rPr lang="ru-RU" dirty="0" smtClean="0">
                <a:latin typeface="Times New Roman" panose="02020603050405020304" pitchFamily="18" charset="0"/>
                <a:cs typeface="Times New Roman" panose="02020603050405020304" pitchFamily="18" charset="0"/>
              </a:rPr>
              <a:t>начиная с последней переменной.</a:t>
            </a:r>
          </a:p>
        </p:txBody>
      </p:sp>
      <p:pic>
        <p:nvPicPr>
          <p:cNvPr id="4" name="Рисунок 3"/>
          <p:cNvPicPr>
            <a:picLocks noChangeAspect="1"/>
          </p:cNvPicPr>
          <p:nvPr/>
        </p:nvPicPr>
        <p:blipFill>
          <a:blip r:embed="rId2"/>
          <a:stretch>
            <a:fillRect/>
          </a:stretch>
        </p:blipFill>
        <p:spPr>
          <a:xfrm>
            <a:off x="691299" y="4459641"/>
            <a:ext cx="4484194" cy="18518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0" name="Рисунок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112" y="4459642"/>
            <a:ext cx="3703758" cy="18518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Рисунок 4"/>
          <p:cNvPicPr>
            <a:picLocks noChangeAspect="1"/>
          </p:cNvPicPr>
          <p:nvPr/>
        </p:nvPicPr>
        <p:blipFill>
          <a:blip r:embed="rId4"/>
          <a:stretch>
            <a:fillRect/>
          </a:stretch>
        </p:blipFill>
        <p:spPr>
          <a:xfrm>
            <a:off x="9386488" y="4459641"/>
            <a:ext cx="1929455" cy="18518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34663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901297"/>
          </a:xfrm>
        </p:spPr>
        <p:txBody>
          <a:bodyPr/>
          <a:lstStyle/>
          <a:p>
            <a:r>
              <a:rPr lang="ru-RU" dirty="0" smtClean="0">
                <a:latin typeface="Times New Roman" panose="02020603050405020304" pitchFamily="18" charset="0"/>
                <a:cs typeface="Times New Roman" panose="02020603050405020304" pitchFamily="18" charset="0"/>
              </a:rPr>
              <a:t>Матрица системы</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04293" y="1354016"/>
            <a:ext cx="8946541" cy="2092570"/>
          </a:xfrm>
        </p:spPr>
        <p:txBody>
          <a:bodyPr/>
          <a:lstStyle/>
          <a:p>
            <a:pPr marL="0" indent="0">
              <a:buNone/>
            </a:pPr>
            <a:r>
              <a:rPr lang="ru-RU" dirty="0" smtClean="0"/>
              <a:t>	</a:t>
            </a:r>
            <a:r>
              <a:rPr lang="ru-RU" dirty="0" smtClean="0">
                <a:latin typeface="Times New Roman" panose="02020603050405020304" pitchFamily="18" charset="0"/>
                <a:cs typeface="Times New Roman" panose="02020603050405020304" pitchFamily="18" charset="0"/>
              </a:rPr>
              <a:t>Для работы метода Гаусса необходимо создать матрицу по которой будут считается коэффициенты. Её можно создать используя метод наименьших квадратов. Для этого создается матрица «А» размером 3</a:t>
            </a:r>
            <a:r>
              <a:rPr lang="en-US" dirty="0" smtClean="0">
                <a:latin typeface="Times New Roman" panose="02020603050405020304" pitchFamily="18" charset="0"/>
                <a:cs typeface="Times New Roman" panose="02020603050405020304" pitchFamily="18" charset="0"/>
              </a:rPr>
              <a:t>*3</a:t>
            </a:r>
            <a:r>
              <a:rPr lang="ru-RU" dirty="0" smtClean="0">
                <a:latin typeface="Times New Roman" panose="02020603050405020304" pitchFamily="18" charset="0"/>
                <a:cs typeface="Times New Roman" panose="02020603050405020304" pitchFamily="18" charset="0"/>
              </a:rPr>
              <a:t> и матрица «</a:t>
            </a:r>
            <a:r>
              <a:rPr lang="en-US" dirty="0" smtClean="0">
                <a:latin typeface="Times New Roman" panose="02020603050405020304" pitchFamily="18" charset="0"/>
                <a:cs typeface="Times New Roman" panose="02020603050405020304" pitchFamily="18" charset="0"/>
              </a:rPr>
              <a:t>B</a:t>
            </a:r>
            <a:r>
              <a:rPr lang="ru-RU" dirty="0" smtClean="0">
                <a:latin typeface="Times New Roman" panose="02020603050405020304" pitchFamily="18" charset="0"/>
                <a:cs typeface="Times New Roman" panose="02020603050405020304" pitchFamily="18" charset="0"/>
              </a:rPr>
              <a:t>» размером 1*3 в которой будут находится коэффициенты.</a:t>
            </a:r>
          </a:p>
          <a:p>
            <a:pPr marL="0" indent="0">
              <a:buNone/>
            </a:pPr>
            <a:r>
              <a:rPr lang="ru-RU" dirty="0" smtClean="0">
                <a:latin typeface="Times New Roman" panose="02020603050405020304" pitchFamily="18" charset="0"/>
                <a:cs typeface="Times New Roman" panose="02020603050405020304" pitchFamily="18" charset="0"/>
              </a:rPr>
              <a:t>	Это </a:t>
            </a:r>
            <a:r>
              <a:rPr lang="ru-RU" dirty="0">
                <a:latin typeface="Times New Roman" panose="02020603050405020304" pitchFamily="18" charset="0"/>
                <a:cs typeface="Times New Roman" panose="02020603050405020304" pitchFamily="18" charset="0"/>
              </a:rPr>
              <a:t>позволит получить систему уравнения, которую возможно будет решить методом Гаусса.</a:t>
            </a:r>
            <a:r>
              <a:rPr lang="ru-RU" dirty="0" smtClean="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pic>
        <p:nvPicPr>
          <p:cNvPr id="3074" name="Рисунок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293" y="3635985"/>
            <a:ext cx="6167437" cy="26747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Рисунок 3"/>
          <p:cNvPicPr>
            <a:picLocks noChangeAspect="1"/>
          </p:cNvPicPr>
          <p:nvPr/>
        </p:nvPicPr>
        <p:blipFill>
          <a:blip r:embed="rId3"/>
          <a:stretch>
            <a:fillRect/>
          </a:stretch>
        </p:blipFill>
        <p:spPr>
          <a:xfrm>
            <a:off x="7465454" y="3635985"/>
            <a:ext cx="3720468" cy="17325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Рисунок 4"/>
          <p:cNvPicPr>
            <a:picLocks noChangeAspect="1"/>
          </p:cNvPicPr>
          <p:nvPr/>
        </p:nvPicPr>
        <p:blipFill>
          <a:blip r:embed="rId4"/>
          <a:stretch>
            <a:fillRect/>
          </a:stretch>
        </p:blipFill>
        <p:spPr>
          <a:xfrm>
            <a:off x="7465454" y="5535077"/>
            <a:ext cx="4505954" cy="6763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7379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835271"/>
          </a:xfrm>
        </p:spPr>
        <p:txBody>
          <a:bodyPr/>
          <a:lstStyle/>
          <a:p>
            <a:r>
              <a:rPr lang="ru-RU" dirty="0" smtClean="0">
                <a:latin typeface="Times New Roman" panose="02020603050405020304" pitchFamily="18" charset="0"/>
                <a:cs typeface="Times New Roman" panose="02020603050405020304" pitchFamily="18" charset="0"/>
              </a:rPr>
              <a:t>Интерфейс приложения</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646111" y="1283509"/>
            <a:ext cx="8946541" cy="2176182"/>
          </a:xfrm>
        </p:spPr>
        <p:txBody>
          <a:bodyPr>
            <a:normAutofit fontScale="92500" lnSpcReduction="20000"/>
          </a:bodyPr>
          <a:lstStyle/>
          <a:p>
            <a:pPr marL="0" indent="0">
              <a:buNone/>
            </a:pPr>
            <a:r>
              <a:rPr lang="ru-RU" dirty="0" smtClean="0">
                <a:latin typeface="Times New Roman" panose="02020603050405020304" pitchFamily="18" charset="0"/>
                <a:cs typeface="Times New Roman" panose="02020603050405020304" pitchFamily="18" charset="0"/>
              </a:rPr>
              <a:t>Интерфейс будущего приложения будет содержать следующие:</a:t>
            </a:r>
          </a:p>
          <a:p>
            <a:pPr marL="0" indent="0">
              <a:buNone/>
            </a:pP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Вывод координаты точки пересечения оси ординат</a:t>
            </a:r>
          </a:p>
          <a:p>
            <a:pPr marL="0" indent="0">
              <a:buNone/>
            </a:pP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Визуализация графиков в форме </a:t>
            </a:r>
            <a:r>
              <a:rPr lang="ru-RU" dirty="0" smtClean="0">
                <a:latin typeface="Times New Roman" panose="02020603050405020304" pitchFamily="18" charset="0"/>
                <a:cs typeface="Times New Roman" panose="02020603050405020304" pitchFamily="18" charset="0"/>
              </a:rPr>
              <a:t>кнопки</a:t>
            </a:r>
            <a:endParaRPr lang="ru-RU" dirty="0" smtClean="0">
              <a:latin typeface="Times New Roman" panose="02020603050405020304" pitchFamily="18" charset="0"/>
              <a:cs typeface="Times New Roman" panose="02020603050405020304" pitchFamily="18" charset="0"/>
            </a:endParaRPr>
          </a:p>
          <a:p>
            <a:pPr marL="0" indent="0">
              <a:buNone/>
            </a:pP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Возможность сохранения результатов</a:t>
            </a:r>
          </a:p>
          <a:p>
            <a:pPr marL="0" indent="0">
              <a:buNone/>
            </a:pP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Вывод дополнительной информации в виде второго диалогового окна</a:t>
            </a:r>
          </a:p>
          <a:p>
            <a:pPr marL="0" indent="0">
              <a:buNone/>
            </a:pPr>
            <a:r>
              <a:rPr lang="ru-RU" dirty="0" smtClean="0">
                <a:latin typeface="Times New Roman" panose="02020603050405020304" pitchFamily="18" charset="0"/>
                <a:cs typeface="Times New Roman" panose="02020603050405020304" pitchFamily="18" charset="0"/>
              </a:rPr>
              <a:t>Реализация интерфейса:</a:t>
            </a:r>
          </a:p>
          <a:p>
            <a:pPr marL="0" indent="0">
              <a:buNone/>
            </a:pPr>
            <a:endParaRPr lang="ru-RU" dirty="0"/>
          </a:p>
        </p:txBody>
      </p:sp>
      <p:pic>
        <p:nvPicPr>
          <p:cNvPr id="5" name="Рисунок 4"/>
          <p:cNvPicPr>
            <a:picLocks noChangeAspect="1"/>
          </p:cNvPicPr>
          <p:nvPr/>
        </p:nvPicPr>
        <p:blipFill>
          <a:blip r:embed="rId2"/>
          <a:stretch>
            <a:fillRect/>
          </a:stretch>
        </p:blipFill>
        <p:spPr>
          <a:xfrm>
            <a:off x="351990" y="3455483"/>
            <a:ext cx="6230219" cy="32198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Рисунок 5"/>
          <p:cNvPicPr>
            <a:picLocks noChangeAspect="1"/>
          </p:cNvPicPr>
          <p:nvPr/>
        </p:nvPicPr>
        <p:blipFill>
          <a:blip r:embed="rId3"/>
          <a:stretch>
            <a:fillRect/>
          </a:stretch>
        </p:blipFill>
        <p:spPr>
          <a:xfrm>
            <a:off x="6876330" y="3407072"/>
            <a:ext cx="5076756" cy="33167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36311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795790"/>
          </a:xfrm>
        </p:spPr>
        <p:txBody>
          <a:bodyPr/>
          <a:lstStyle/>
          <a:p>
            <a:r>
              <a:rPr lang="ru-RU" dirty="0" smtClean="0">
                <a:latin typeface="Times New Roman" panose="02020603050405020304" pitchFamily="18" charset="0"/>
                <a:cs typeface="Times New Roman" panose="02020603050405020304" pitchFamily="18" charset="0"/>
              </a:rPr>
              <a:t>Руководство пользователя</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646111" y="1311092"/>
            <a:ext cx="8946541" cy="1112313"/>
          </a:xfrm>
        </p:spPr>
        <p:txBody>
          <a:bodyPr/>
          <a:lstStyle/>
          <a:p>
            <a:pPr marL="0" indent="0">
              <a:buNone/>
            </a:pPr>
            <a:r>
              <a:rPr lang="ru-RU" dirty="0" smtClean="0">
                <a:latin typeface="Times New Roman" panose="02020603050405020304" pitchFamily="18" charset="0"/>
                <a:cs typeface="Times New Roman" panose="02020603050405020304" pitchFamily="18" charset="0"/>
              </a:rPr>
              <a:t>	При запуске приложения появляется диалоговое окно, где пользователь может ввести количество частных чисел в полевода и увидеть визуализацию полученных графиков.</a:t>
            </a:r>
            <a:endParaRPr lang="ru-RU" dirty="0">
              <a:latin typeface="Times New Roman" panose="02020603050405020304" pitchFamily="18" charset="0"/>
              <a:cs typeface="Times New Roman" panose="02020603050405020304" pitchFamily="18" charset="0"/>
            </a:endParaRPr>
          </a:p>
        </p:txBody>
      </p:sp>
      <p:sp>
        <p:nvSpPr>
          <p:cNvPr id="5" name="Объект 2"/>
          <p:cNvSpPr txBox="1">
            <a:spLocks/>
          </p:cNvSpPr>
          <p:nvPr/>
        </p:nvSpPr>
        <p:spPr>
          <a:xfrm>
            <a:off x="646111" y="5816468"/>
            <a:ext cx="8946541" cy="77776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ru-RU" dirty="0" smtClean="0">
                <a:latin typeface="Times New Roman" panose="02020603050405020304" pitchFamily="18" charset="0"/>
                <a:cs typeface="Times New Roman" panose="02020603050405020304" pitchFamily="18" charset="0"/>
              </a:rPr>
              <a:t>	При нажатие пользователем кнопки в виде фотоаппарата выскачет </a:t>
            </a:r>
            <a:r>
              <a:rPr lang="ru-RU" dirty="0" smtClean="0">
                <a:latin typeface="Times New Roman" panose="02020603050405020304" pitchFamily="18" charset="0"/>
                <a:cs typeface="Times New Roman" panose="02020603050405020304" pitchFamily="18" charset="0"/>
              </a:rPr>
              <a:t>окно </a:t>
            </a:r>
            <a:r>
              <a:rPr lang="ru-RU" dirty="0" smtClean="0">
                <a:latin typeface="Times New Roman" panose="02020603050405020304" pitchFamily="18" charset="0"/>
                <a:cs typeface="Times New Roman" panose="02020603050405020304" pitchFamily="18" charset="0"/>
              </a:rPr>
              <a:t>для</a:t>
            </a:r>
            <a:r>
              <a:rPr lang="ru-RU" dirty="0" smtClean="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сохранения </a:t>
            </a:r>
            <a:r>
              <a:rPr lang="ru-RU" dirty="0" smtClean="0">
                <a:latin typeface="Times New Roman" panose="02020603050405020304" pitchFamily="18" charset="0"/>
                <a:cs typeface="Times New Roman" panose="02020603050405020304" pitchFamily="18" charset="0"/>
              </a:rPr>
              <a:t>снимка по указанному пути и сообщения с результатом сохранения.</a:t>
            </a:r>
            <a:endParaRPr lang="ru-RU" dirty="0">
              <a:latin typeface="Times New Roman" panose="02020603050405020304" pitchFamily="18" charset="0"/>
              <a:cs typeface="Times New Roman" panose="02020603050405020304" pitchFamily="18" charset="0"/>
            </a:endParaRPr>
          </a:p>
        </p:txBody>
      </p:sp>
      <p:pic>
        <p:nvPicPr>
          <p:cNvPr id="9" name="Рисунок 8"/>
          <p:cNvPicPr>
            <a:picLocks noChangeAspect="1"/>
          </p:cNvPicPr>
          <p:nvPr/>
        </p:nvPicPr>
        <p:blipFill>
          <a:blip r:embed="rId2"/>
          <a:stretch>
            <a:fillRect/>
          </a:stretch>
        </p:blipFill>
        <p:spPr>
          <a:xfrm>
            <a:off x="783261" y="2335503"/>
            <a:ext cx="5076756" cy="33167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Рисунок 7"/>
          <p:cNvPicPr/>
          <p:nvPr/>
        </p:nvPicPr>
        <p:blipFill>
          <a:blip r:embed="rId3"/>
          <a:stretch>
            <a:fillRect/>
          </a:stretch>
        </p:blipFill>
        <p:spPr>
          <a:xfrm>
            <a:off x="6432212" y="2335503"/>
            <a:ext cx="4329475" cy="20424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Рисунок 11"/>
          <p:cNvPicPr/>
          <p:nvPr/>
        </p:nvPicPr>
        <p:blipFill>
          <a:blip r:embed="rId4"/>
          <a:stretch>
            <a:fillRect/>
          </a:stretch>
        </p:blipFill>
        <p:spPr>
          <a:xfrm>
            <a:off x="6432212" y="4533560"/>
            <a:ext cx="3010726" cy="11186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850522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Times New Roman" panose="02020603050405020304" pitchFamily="18" charset="0"/>
                <a:cs typeface="Times New Roman" panose="02020603050405020304" pitchFamily="18" charset="0"/>
              </a:rPr>
              <a:t>Тестирования</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41766" y="1261612"/>
            <a:ext cx="9772772" cy="1112311"/>
          </a:xfrm>
        </p:spPr>
        <p:txBody>
          <a:bodyPr>
            <a:normAutofit fontScale="92500" lnSpcReduction="20000"/>
          </a:bodyPr>
          <a:lstStyle/>
          <a:p>
            <a:pPr marL="0" indent="0">
              <a:buNone/>
            </a:pPr>
            <a:r>
              <a:rPr lang="ru-RU" dirty="0"/>
              <a:t>	</a:t>
            </a:r>
            <a:r>
              <a:rPr lang="ru-RU" sz="2800" dirty="0" smtClean="0">
                <a:latin typeface="Times New Roman" panose="02020603050405020304" pitchFamily="18" charset="0"/>
                <a:cs typeface="Times New Roman" panose="02020603050405020304" pitchFamily="18" charset="0"/>
              </a:rPr>
              <a:t>Пример работы программы для десяти частных сумм натурального ряда с визуализацией графиков и точкой пересечения оси ординат.</a:t>
            </a:r>
            <a:endParaRPr lang="ru-RU" sz="28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2563393" y="2373923"/>
            <a:ext cx="6325631" cy="41531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87946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720020" cy="1332120"/>
          </a:xfrm>
        </p:spPr>
        <p:txBody>
          <a:bodyPr/>
          <a:lstStyle/>
          <a:p>
            <a:r>
              <a:rPr lang="ru-RU" dirty="0">
                <a:latin typeface="Times New Roman" panose="02020603050405020304" pitchFamily="18" charset="0"/>
                <a:cs typeface="Times New Roman" panose="02020603050405020304" pitchFamily="18" charset="0"/>
              </a:rPr>
              <a:t>Сохранения изображения графиков в </a:t>
            </a:r>
            <a:r>
              <a:rPr lang="en-US" dirty="0">
                <a:latin typeface="Times New Roman" panose="02020603050405020304" pitchFamily="18" charset="0"/>
                <a:cs typeface="Times New Roman" panose="02020603050405020304" pitchFamily="18" charset="0"/>
              </a:rPr>
              <a:t>BMP </a:t>
            </a:r>
            <a:r>
              <a:rPr lang="ru-RU" dirty="0">
                <a:latin typeface="Times New Roman" panose="02020603050405020304" pitchFamily="18" charset="0"/>
                <a:cs typeface="Times New Roman" panose="02020603050405020304" pitchFamily="18" charset="0"/>
              </a:rPr>
              <a:t>файл</a:t>
            </a:r>
            <a:r>
              <a:rPr lang="ru-RU" dirty="0"/>
              <a:t/>
            </a:r>
            <a:br>
              <a:rPr lang="ru-RU" dirty="0"/>
            </a:br>
            <a:endParaRPr lang="ru-RU" dirty="0"/>
          </a:p>
        </p:txBody>
      </p:sp>
      <p:sp>
        <p:nvSpPr>
          <p:cNvPr id="3" name="Объект 2"/>
          <p:cNvSpPr>
            <a:spLocks noGrp="1"/>
          </p:cNvSpPr>
          <p:nvPr>
            <p:ph idx="1"/>
          </p:nvPr>
        </p:nvSpPr>
        <p:spPr>
          <a:xfrm>
            <a:off x="804374" y="1784837"/>
            <a:ext cx="9561757" cy="1055077"/>
          </a:xfrm>
        </p:spPr>
        <p:txBody>
          <a:bodyPr>
            <a:normAutofit lnSpcReduction="10000"/>
          </a:bodyPr>
          <a:lstStyle/>
          <a:p>
            <a:pPr marL="0" indent="0">
              <a:buNone/>
            </a:pPr>
            <a:r>
              <a:rPr lang="ru-RU" dirty="0" smtClean="0"/>
              <a:t>	</a:t>
            </a:r>
            <a:r>
              <a:rPr lang="ru-RU" dirty="0" smtClean="0">
                <a:latin typeface="Times New Roman" panose="02020603050405020304" pitchFamily="18" charset="0"/>
                <a:cs typeface="Times New Roman" panose="02020603050405020304" pitchFamily="18" charset="0"/>
              </a:rPr>
              <a:t>1) Нажимаем на кнопку сохранения изображения</a:t>
            </a:r>
          </a:p>
          <a:p>
            <a:pPr marL="0" indent="0">
              <a:buNone/>
            </a:pPr>
            <a:r>
              <a:rPr lang="ru-RU" dirty="0" smtClean="0">
                <a:latin typeface="Times New Roman" panose="02020603050405020304" pitchFamily="18" charset="0"/>
                <a:cs typeface="Times New Roman" panose="02020603050405020304" pitchFamily="18" charset="0"/>
              </a:rPr>
              <a:t>	2) Открываем корневую папку проекта и находим изображения полученных результатов</a:t>
            </a:r>
            <a:endParaRPr lang="ru-RU"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2"/>
          <a:stretch>
            <a:fillRect/>
          </a:stretch>
        </p:blipFill>
        <p:spPr>
          <a:xfrm>
            <a:off x="6697964" y="2839914"/>
            <a:ext cx="2472414" cy="21818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Рисунок 6"/>
          <p:cNvPicPr>
            <a:picLocks noChangeAspect="1"/>
          </p:cNvPicPr>
          <p:nvPr/>
        </p:nvPicPr>
        <p:blipFill>
          <a:blip r:embed="rId3"/>
          <a:stretch>
            <a:fillRect/>
          </a:stretch>
        </p:blipFill>
        <p:spPr>
          <a:xfrm>
            <a:off x="6697964" y="5155421"/>
            <a:ext cx="2743583" cy="14765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Рисунок 7"/>
          <p:cNvPicPr>
            <a:picLocks noChangeAspect="1"/>
          </p:cNvPicPr>
          <p:nvPr/>
        </p:nvPicPr>
        <p:blipFill>
          <a:blip r:embed="rId4"/>
          <a:stretch>
            <a:fillRect/>
          </a:stretch>
        </p:blipFill>
        <p:spPr>
          <a:xfrm>
            <a:off x="1002575" y="2884554"/>
            <a:ext cx="5310304" cy="34816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Рисунок 8"/>
          <p:cNvPicPr>
            <a:picLocks noChangeAspect="1"/>
          </p:cNvPicPr>
          <p:nvPr/>
        </p:nvPicPr>
        <p:blipFill>
          <a:blip r:embed="rId5"/>
          <a:stretch>
            <a:fillRect/>
          </a:stretch>
        </p:blipFill>
        <p:spPr>
          <a:xfrm>
            <a:off x="9461130" y="2884554"/>
            <a:ext cx="905001" cy="8764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0649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Times New Roman" panose="02020603050405020304" pitchFamily="18" charset="0"/>
                <a:cs typeface="Times New Roman" panose="02020603050405020304" pitchFamily="18" charset="0"/>
              </a:rPr>
              <a:t>Результат работы для двадцати частных сумм</a:t>
            </a:r>
            <a:endParaRPr lang="ru-RU"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stretch>
            <a:fillRect/>
          </a:stretch>
        </p:blipFill>
        <p:spPr>
          <a:xfrm>
            <a:off x="2251080" y="1853248"/>
            <a:ext cx="6916115" cy="45250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07472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786997"/>
          </a:xfrm>
        </p:spPr>
        <p:txBody>
          <a:bodyPr/>
          <a:lstStyle/>
          <a:p>
            <a:r>
              <a:rPr lang="ru-RU" dirty="0" smtClean="0">
                <a:latin typeface="Times New Roman" panose="02020603050405020304" pitchFamily="18" charset="0"/>
                <a:cs typeface="Times New Roman" panose="02020603050405020304" pitchFamily="18" charset="0"/>
              </a:rPr>
              <a:t>Результат для ста частных сумм</a:t>
            </a:r>
            <a:endParaRPr lang="ru-RU"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stretch>
            <a:fillRect/>
          </a:stretch>
        </p:blipFill>
        <p:spPr>
          <a:xfrm>
            <a:off x="1890414" y="1585232"/>
            <a:ext cx="6916115" cy="44964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544419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404723" cy="837982"/>
          </a:xfrm>
        </p:spPr>
        <p:txBody>
          <a:bodyPr/>
          <a:lstStyle/>
          <a:p>
            <a:r>
              <a:rPr lang="ru-RU" dirty="0" smtClean="0">
                <a:latin typeface="Times New Roman" panose="02020603050405020304" pitchFamily="18" charset="0"/>
                <a:cs typeface="Times New Roman" panose="02020603050405020304" pitchFamily="18" charset="0"/>
              </a:rPr>
              <a:t>Проверка введённых значений</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549885" y="1393495"/>
            <a:ext cx="8946541" cy="786997"/>
          </a:xfrm>
        </p:spPr>
        <p:txBody>
          <a:bodyPr/>
          <a:lstStyle/>
          <a:p>
            <a:pPr marL="0" indent="0">
              <a:buNone/>
            </a:pPr>
            <a:r>
              <a:rPr lang="ru-RU" dirty="0" smtClean="0"/>
              <a:t>	</a:t>
            </a:r>
            <a:r>
              <a:rPr lang="ru-RU" dirty="0" smtClean="0">
                <a:latin typeface="Times New Roman" panose="02020603050405020304" pitchFamily="18" charset="0"/>
                <a:cs typeface="Times New Roman" panose="02020603050405020304" pitchFamily="18" charset="0"/>
              </a:rPr>
              <a:t>1) При записи в полевода букв, знаков, </a:t>
            </a:r>
            <a:r>
              <a:rPr lang="ru-RU" dirty="0" smtClean="0">
                <a:latin typeface="Times New Roman" panose="02020603050405020304" pitchFamily="18" charset="0"/>
                <a:cs typeface="Times New Roman" panose="02020603050405020304" pitchFamily="18" charset="0"/>
              </a:rPr>
              <a:t>нуля, единицы и двойки </a:t>
            </a:r>
            <a:r>
              <a:rPr lang="ru-RU" dirty="0" smtClean="0">
                <a:latin typeface="Times New Roman" panose="02020603050405020304" pitchFamily="18" charset="0"/>
                <a:cs typeface="Times New Roman" panose="02020603050405020304" pitchFamily="18" charset="0"/>
              </a:rPr>
              <a:t>выводится ошибка 1:</a:t>
            </a:r>
            <a:endParaRPr lang="ru-RU" dirty="0">
              <a:latin typeface="Times New Roman" panose="02020603050405020304" pitchFamily="18" charset="0"/>
              <a:cs typeface="Times New Roman" panose="02020603050405020304" pitchFamily="18" charset="0"/>
            </a:endParaRPr>
          </a:p>
        </p:txBody>
      </p:sp>
      <p:sp>
        <p:nvSpPr>
          <p:cNvPr id="5" name="Объект 2"/>
          <p:cNvSpPr txBox="1">
            <a:spLocks/>
          </p:cNvSpPr>
          <p:nvPr/>
        </p:nvSpPr>
        <p:spPr>
          <a:xfrm>
            <a:off x="4392530" y="2064209"/>
            <a:ext cx="4786639" cy="7869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ru-RU" dirty="0" smtClean="0"/>
              <a:t>	</a:t>
            </a:r>
            <a:r>
              <a:rPr lang="ru-RU" dirty="0">
                <a:latin typeface="Times New Roman" panose="02020603050405020304" pitchFamily="18" charset="0"/>
                <a:cs typeface="Times New Roman" panose="02020603050405020304" pitchFamily="18" charset="0"/>
              </a:rPr>
              <a:t>2</a:t>
            </a:r>
            <a:r>
              <a:rPr lang="ru-RU" dirty="0" smtClean="0">
                <a:latin typeface="Times New Roman" panose="02020603050405020304" pitchFamily="18" charset="0"/>
                <a:cs typeface="Times New Roman" panose="02020603050405020304" pitchFamily="18" charset="0"/>
              </a:rPr>
              <a:t>) При записи пустого полевода выводится ошибка 2:</a:t>
            </a:r>
            <a:endParaRPr lang="ru-RU" dirty="0">
              <a:latin typeface="Times New Roman" panose="02020603050405020304" pitchFamily="18" charset="0"/>
              <a:cs typeface="Times New Roman" panose="02020603050405020304" pitchFamily="18" charset="0"/>
            </a:endParaRPr>
          </a:p>
        </p:txBody>
      </p:sp>
      <p:sp>
        <p:nvSpPr>
          <p:cNvPr id="8" name="Объект 2"/>
          <p:cNvSpPr txBox="1">
            <a:spLocks/>
          </p:cNvSpPr>
          <p:nvPr/>
        </p:nvSpPr>
        <p:spPr>
          <a:xfrm>
            <a:off x="646111" y="4675437"/>
            <a:ext cx="6459598" cy="14000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ru-RU" dirty="0" smtClean="0"/>
              <a:t>	</a:t>
            </a:r>
            <a:r>
              <a:rPr lang="ru-RU" dirty="0">
                <a:latin typeface="Times New Roman" panose="02020603050405020304" pitchFamily="18" charset="0"/>
                <a:cs typeface="Times New Roman" panose="02020603050405020304" pitchFamily="18" charset="0"/>
              </a:rPr>
              <a:t>3</a:t>
            </a:r>
            <a:r>
              <a:rPr lang="ru-RU" dirty="0" smtClean="0">
                <a:latin typeface="Times New Roman" panose="02020603050405020304" pitchFamily="18" charset="0"/>
                <a:cs typeface="Times New Roman" panose="02020603050405020304" pitchFamily="18" charset="0"/>
              </a:rPr>
              <a:t>) При записи в полевода слишком большого количества частных сумм выводится ошибка 3 для предотвращения зависания приложения:</a:t>
            </a:r>
            <a:endParaRPr lang="ru-RU" dirty="0">
              <a:latin typeface="Times New Roman" panose="02020603050405020304" pitchFamily="18" charset="0"/>
              <a:cs typeface="Times New Roman" panose="02020603050405020304" pitchFamily="18" charset="0"/>
            </a:endParaRPr>
          </a:p>
        </p:txBody>
      </p:sp>
      <p:pic>
        <p:nvPicPr>
          <p:cNvPr id="9" name="Рисунок 8"/>
          <p:cNvPicPr>
            <a:picLocks noChangeAspect="1"/>
          </p:cNvPicPr>
          <p:nvPr/>
        </p:nvPicPr>
        <p:blipFill>
          <a:blip r:embed="rId2"/>
          <a:stretch>
            <a:fillRect/>
          </a:stretch>
        </p:blipFill>
        <p:spPr>
          <a:xfrm>
            <a:off x="941801" y="2180492"/>
            <a:ext cx="2934109" cy="1905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Рисунок 9"/>
          <p:cNvPicPr>
            <a:picLocks noChangeAspect="1"/>
          </p:cNvPicPr>
          <p:nvPr/>
        </p:nvPicPr>
        <p:blipFill>
          <a:blip r:embed="rId3"/>
          <a:stretch>
            <a:fillRect/>
          </a:stretch>
        </p:blipFill>
        <p:spPr>
          <a:xfrm>
            <a:off x="7105709" y="2578813"/>
            <a:ext cx="1876687" cy="18862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Рисунок 10"/>
          <p:cNvPicPr>
            <a:picLocks noChangeAspect="1"/>
          </p:cNvPicPr>
          <p:nvPr/>
        </p:nvPicPr>
        <p:blipFill>
          <a:blip r:embed="rId4"/>
          <a:stretch>
            <a:fillRect/>
          </a:stretch>
        </p:blipFill>
        <p:spPr>
          <a:xfrm>
            <a:off x="6576997" y="4702739"/>
            <a:ext cx="2934109" cy="19624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112566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Times New Roman" panose="02020603050405020304" pitchFamily="18" charset="0"/>
                <a:cs typeface="Times New Roman" panose="02020603050405020304" pitchFamily="18" charset="0"/>
              </a:rPr>
              <a:t>Заключения</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04293" y="1542964"/>
            <a:ext cx="8946541" cy="4681990"/>
          </a:xfrm>
        </p:spPr>
        <p:txBody>
          <a:bodyPr>
            <a:normAutofit fontScale="92500"/>
          </a:bodyPr>
          <a:lstStyle/>
          <a:p>
            <a:pPr marL="0" indent="0">
              <a:buNone/>
            </a:pPr>
            <a:r>
              <a:rPr lang="ru-RU" dirty="0"/>
              <a:t>	</a:t>
            </a:r>
            <a:r>
              <a:rPr lang="ru-RU" sz="2400" dirty="0">
                <a:latin typeface="Times New Roman" panose="02020603050405020304" pitchFamily="18" charset="0"/>
                <a:cs typeface="Times New Roman" panose="02020603050405020304" pitchFamily="18" charset="0"/>
              </a:rPr>
              <a:t>В результате выполнения курсовой работы была разработана программа в среде </a:t>
            </a:r>
            <a:r>
              <a:rPr lang="ru-RU" sz="2400" dirty="0" err="1">
                <a:latin typeface="Times New Roman" panose="02020603050405020304" pitchFamily="18" charset="0"/>
                <a:cs typeface="Times New Roman" panose="02020603050405020304" pitchFamily="18" charset="0"/>
              </a:rPr>
              <a:t>VisualStudio</a:t>
            </a:r>
            <a:r>
              <a:rPr lang="ru-RU" sz="2400" dirty="0">
                <a:latin typeface="Times New Roman" panose="02020603050405020304" pitchFamily="18" charset="0"/>
                <a:cs typeface="Times New Roman" panose="02020603050405020304" pitchFamily="18" charset="0"/>
              </a:rPr>
              <a:t> на языке программирования </a:t>
            </a:r>
            <a:r>
              <a:rPr lang="en-US" sz="2400" dirty="0">
                <a:latin typeface="Times New Roman" panose="02020603050405020304" pitchFamily="18" charset="0"/>
                <a:cs typeface="Times New Roman" panose="02020603050405020304" pitchFamily="18" charset="0"/>
              </a:rPr>
              <a:t>C</a:t>
            </a:r>
            <a:r>
              <a:rPr lang="ru-RU" sz="2400" dirty="0">
                <a:latin typeface="Times New Roman" panose="02020603050405020304" pitchFamily="18" charset="0"/>
                <a:cs typeface="Times New Roman" panose="02020603050405020304" pitchFamily="18" charset="0"/>
              </a:rPr>
              <a:t>++, которая позволяет визуализировать сглаживающую параболу частных сумм натурального ряда. Помимо этого, реализована возможность сохранения результатов работы программы в виде картинок с уникальным именем для удобности. </a:t>
            </a:r>
          </a:p>
          <a:p>
            <a:pPr marL="0" indent="0">
              <a:buNone/>
            </a:pPr>
            <a:r>
              <a:rPr lang="ru-RU" sz="2400" dirty="0" smtClean="0">
                <a:latin typeface="Times New Roman" panose="02020603050405020304" pitchFamily="18" charset="0"/>
                <a:cs typeface="Times New Roman" panose="02020603050405020304" pitchFamily="18" charset="0"/>
              </a:rPr>
              <a:t>	В </a:t>
            </a:r>
            <a:r>
              <a:rPr lang="ru-RU" sz="2400" dirty="0">
                <a:latin typeface="Times New Roman" panose="02020603050405020304" pitchFamily="18" charset="0"/>
                <a:cs typeface="Times New Roman" panose="02020603050405020304" pitchFamily="18" charset="0"/>
              </a:rPr>
              <a:t>процессе выполнения работы активно использовалась сторонняя литература, в основном, представленная в виде веб-ресурсов и электронных книг. Для проверки кода использовались консольные приложения. Исследованы различные математические методы, которые могут помочь реализовать график частных сумм. Были учтены такие параметры как количество частных сумм, размеры формы, время построения графика, шаги построения графика </a:t>
            </a:r>
            <a:r>
              <a:rPr lang="ru-RU" sz="2400" dirty="0" err="1">
                <a:latin typeface="Times New Roman" panose="02020603050405020304" pitchFamily="18" charset="0"/>
                <a:cs typeface="Times New Roman" panose="02020603050405020304" pitchFamily="18" charset="0"/>
              </a:rPr>
              <a:t>и.т.д</a:t>
            </a:r>
            <a:r>
              <a:rPr lang="ru-RU"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802257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он">
  <a:themeElements>
    <a:clrScheme name="Ио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Ион">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Ио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693</TotalTime>
  <Words>76</Words>
  <Application>Microsoft Office PowerPoint</Application>
  <PresentationFormat>Широкоэкранный</PresentationFormat>
  <Paragraphs>45</Paragraphs>
  <Slides>13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Arial</vt:lpstr>
      <vt:lpstr>Century Gothic</vt:lpstr>
      <vt:lpstr>Times New Roman</vt:lpstr>
      <vt:lpstr>Wingdings 3</vt:lpstr>
      <vt:lpstr>Ион</vt:lpstr>
      <vt:lpstr>Разработка приложения визуализации параболы, являющейся сглаживающей асимптотой заданного количества частных сумм натурального ряда чисел, с определением точки пересечения оси ординат</vt:lpstr>
      <vt:lpstr>Введение</vt:lpstr>
      <vt:lpstr>Частная сумма натурального ряда</vt:lpstr>
      <vt:lpstr>Реализации метода Гаусса</vt:lpstr>
      <vt:lpstr>Матрица системы</vt:lpstr>
      <vt:lpstr>Интерфейс приложения</vt:lpstr>
      <vt:lpstr>Руководство пользователя</vt:lpstr>
      <vt:lpstr>Тестирования</vt:lpstr>
      <vt:lpstr>Сохранения изображения графиков в BMP файл </vt:lpstr>
      <vt:lpstr>Результат работы для двадцати частных сумм</vt:lpstr>
      <vt:lpstr>Результат для ста частных сумм</vt:lpstr>
      <vt:lpstr>Проверка введённых значений</vt:lpstr>
      <vt:lpstr>Заключения</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Lemon_Russ</dc:creator>
  <cp:lastModifiedBy>Lemon_Russ</cp:lastModifiedBy>
  <cp:revision>44</cp:revision>
  <dcterms:created xsi:type="dcterms:W3CDTF">2024-05-04T15:05:45Z</dcterms:created>
  <dcterms:modified xsi:type="dcterms:W3CDTF">2024-05-13T12:23:30Z</dcterms:modified>
</cp:coreProperties>
</file>